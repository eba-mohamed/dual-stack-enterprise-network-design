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hkio" charset="1" panose="00000000000000000000"/>
      <p:regular r:id="rId25"/>
    </p:embeddedFont>
    <p:embeddedFont>
      <p:font typeface="Nourd" charset="1" panose="00000500000000000000"/>
      <p:regular r:id="rId26"/>
    </p:embeddedFont>
    <p:embeddedFont>
      <p:font typeface="Ahkio Bold" charset="1" panose="00000000000000000000"/>
      <p:regular r:id="rId27"/>
    </p:embeddedFont>
    <p:embeddedFont>
      <p:font typeface="Open Sans Bold" charset="1" panose="020B0806030504020204"/>
      <p:regular r:id="rId28"/>
    </p:embeddedFont>
    <p:embeddedFont>
      <p:font typeface="Open Sans" charset="1" panose="020B0606030504020204"/>
      <p:regular r:id="rId29"/>
    </p:embeddedFont>
    <p:embeddedFont>
      <p:font typeface="Open Sans Italics" charset="1" panose="020B0606030504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1169" y="1751314"/>
            <a:ext cx="11034217" cy="206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8000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CSN6224 COMPUTER NETWORK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28352" y="-716089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3"/>
                </a:lnTo>
                <a:lnTo>
                  <a:pt x="0" y="532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5680316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8" y="5322774"/>
                </a:moveTo>
                <a:lnTo>
                  <a:pt x="0" y="5322774"/>
                </a:lnTo>
                <a:lnTo>
                  <a:pt x="0" y="0"/>
                </a:lnTo>
                <a:lnTo>
                  <a:pt x="4859648" y="0"/>
                </a:lnTo>
                <a:lnTo>
                  <a:pt x="4859648" y="53227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20781" y="9258300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1" y="0"/>
                </a:lnTo>
                <a:lnTo>
                  <a:pt x="17080881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19" r="0" b="-2619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422392" y="77190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2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2" y="4114800"/>
                </a:lnTo>
                <a:lnTo>
                  <a:pt x="531418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236024" y="-2460879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1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1" y="3489579"/>
                </a:lnTo>
                <a:lnTo>
                  <a:pt x="17080881" y="0"/>
                </a:lnTo>
                <a:close/>
              </a:path>
            </a:pathLst>
          </a:custGeom>
          <a:blipFill>
            <a:blip r:embed="rId4"/>
            <a:stretch>
              <a:fillRect l="0" t="-2619" r="0" b="-261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515531" y="-129224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1" y="4114800"/>
                </a:lnTo>
                <a:lnTo>
                  <a:pt x="531418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41559" y="5057775"/>
            <a:ext cx="16004882" cy="524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6"/>
              </a:lnSpc>
            </a:pPr>
            <a:r>
              <a:rPr lang="en-US" sz="4254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        GROUP NAME: THE 202 Network      GROUP NO.: 11</a:t>
            </a:r>
          </a:p>
          <a:p>
            <a:pPr algn="l">
              <a:lnSpc>
                <a:spcPts val="5956"/>
              </a:lnSpc>
            </a:pPr>
            <a:r>
              <a:rPr lang="en-US" sz="4254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By :  EBA MOHAMED ABBAS AHMED      (242UC243BE)</a:t>
            </a:r>
          </a:p>
          <a:p>
            <a:pPr algn="l">
              <a:lnSpc>
                <a:spcPts val="5956"/>
              </a:lnSpc>
            </a:pPr>
            <a:r>
              <a:rPr lang="en-US" sz="4254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             LAMA M. R. SIAM                             (242UC243B4)</a:t>
            </a:r>
          </a:p>
          <a:p>
            <a:pPr algn="l">
              <a:lnSpc>
                <a:spcPts val="5956"/>
              </a:lnSpc>
            </a:pPr>
            <a:r>
              <a:rPr lang="en-US" sz="4254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             SITI ZULAIKHA BINTI ABDUL RAZIF   (242UC243TL)</a:t>
            </a:r>
          </a:p>
          <a:p>
            <a:pPr algn="l">
              <a:lnSpc>
                <a:spcPts val="5956"/>
              </a:lnSpc>
            </a:pPr>
            <a:r>
              <a:rPr lang="en-US" sz="4254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             Moo Yu Jie                                        (1191100199)</a:t>
            </a:r>
          </a:p>
          <a:p>
            <a:pPr algn="ctr">
              <a:lnSpc>
                <a:spcPts val="5956"/>
              </a:lnSpc>
            </a:pPr>
          </a:p>
          <a:p>
            <a:pPr algn="ctr">
              <a:lnSpc>
                <a:spcPts val="595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28352" y="-650412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3"/>
                </a:lnTo>
                <a:lnTo>
                  <a:pt x="0" y="532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5495768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8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8" y="0"/>
                </a:lnTo>
                <a:lnTo>
                  <a:pt x="4859648" y="532277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03440" y="9258300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0" y="0"/>
                </a:lnTo>
                <a:lnTo>
                  <a:pt x="17080880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19" r="0" b="-2619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428352" y="7891384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2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2" y="4114800"/>
                </a:lnTo>
                <a:lnTo>
                  <a:pt x="531418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2236024" y="-2460879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1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1" y="3489579"/>
                </a:lnTo>
                <a:lnTo>
                  <a:pt x="17080881" y="0"/>
                </a:lnTo>
                <a:close/>
              </a:path>
            </a:pathLst>
          </a:custGeom>
          <a:blipFill>
            <a:blip r:embed="rId4"/>
            <a:stretch>
              <a:fillRect l="0" t="-2619" r="0" b="-261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928652" y="-184785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2" y="4114800"/>
                </a:lnTo>
                <a:lnTo>
                  <a:pt x="53141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051808" y="2990183"/>
            <a:ext cx="378015" cy="37801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668749" y="2817562"/>
            <a:ext cx="4727644" cy="65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3920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Based on birth 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68749" y="3573630"/>
            <a:ext cx="5815537" cy="283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IP format:</a:t>
            </a:r>
          </a:p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- IPv4: </a:t>
            </a:r>
          </a:p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202.day.month.0/24</a:t>
            </a:r>
          </a:p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- IPv6: 2001:db8:DDMM:YYYY::/64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97937" y="1332161"/>
            <a:ext cx="9480250" cy="1104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69"/>
              </a:lnSpc>
            </a:pPr>
            <a:r>
              <a:rPr lang="en-US" b="true" sz="6335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IP ADDRESSING SCHEME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051808" y="3692351"/>
            <a:ext cx="378015" cy="37801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454202" y="3564105"/>
            <a:ext cx="8227770" cy="374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3558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Eba - IPv4: 202.10.12.0/24</a:t>
            </a:r>
          </a:p>
          <a:p>
            <a:pPr algn="l">
              <a:lnSpc>
                <a:spcPts val="4982"/>
              </a:lnSpc>
            </a:pPr>
            <a:r>
              <a:rPr lang="en-US" sz="3558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       - IPv6: 2001:db8:1012:2006::/64</a:t>
            </a:r>
          </a:p>
          <a:p>
            <a:pPr algn="l">
              <a:lnSpc>
                <a:spcPts val="4982"/>
              </a:lnSpc>
            </a:pPr>
            <a:r>
              <a:rPr lang="en-US" sz="3558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Lama - IPv4: 202.3.10.0/24</a:t>
            </a:r>
          </a:p>
          <a:p>
            <a:pPr algn="l">
              <a:lnSpc>
                <a:spcPts val="4982"/>
              </a:lnSpc>
            </a:pPr>
            <a:r>
              <a:rPr lang="en-US" sz="3558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Zulaikha - IPv6: 2001:db8:0909:2005</a:t>
            </a:r>
          </a:p>
          <a:p>
            <a:pPr algn="l">
              <a:lnSpc>
                <a:spcPts val="4982"/>
              </a:lnSpc>
            </a:pPr>
            <a:r>
              <a:rPr lang="en-US" sz="3558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Moo - IPv4: 202.2.6.0/24</a:t>
            </a:r>
          </a:p>
          <a:p>
            <a:pPr algn="l">
              <a:lnSpc>
                <a:spcPts val="4982"/>
              </a:lnSpc>
            </a:pPr>
            <a:r>
              <a:rPr lang="en-US" sz="3558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        - IPv6: 2001:db8:0206:2001::/64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38061" y="3692351"/>
            <a:ext cx="378015" cy="37801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83750" y="9389992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0" y="0"/>
                </a:lnTo>
                <a:lnTo>
                  <a:pt x="17080880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250449" y="7796176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1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1" y="4114800"/>
                </a:lnTo>
                <a:lnTo>
                  <a:pt x="531418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878840" y="-2674237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0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0" y="3489579"/>
                </a:lnTo>
                <a:lnTo>
                  <a:pt x="1708088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878840" y="-1678947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1" y="4114800"/>
                </a:lnTo>
                <a:lnTo>
                  <a:pt x="531418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19002" y="-929448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3"/>
                </a:lnTo>
                <a:lnTo>
                  <a:pt x="0" y="5322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520867" y="5812009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8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8" y="0"/>
                </a:lnTo>
                <a:lnTo>
                  <a:pt x="4859648" y="532277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35341" y="2310410"/>
            <a:ext cx="11745596" cy="6680308"/>
          </a:xfrm>
          <a:custGeom>
            <a:avLst/>
            <a:gdLst/>
            <a:ahLst/>
            <a:cxnLst/>
            <a:rect r="r" b="b" t="t" l="l"/>
            <a:pathLst>
              <a:path h="6680308" w="11745596">
                <a:moveTo>
                  <a:pt x="0" y="0"/>
                </a:moveTo>
                <a:lnTo>
                  <a:pt x="11745596" y="0"/>
                </a:lnTo>
                <a:lnTo>
                  <a:pt x="11745596" y="6680308"/>
                </a:lnTo>
                <a:lnTo>
                  <a:pt x="0" y="66803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239164"/>
            <a:ext cx="18288000" cy="107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8000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PROJECT OVERVIEW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0811" y="-2591096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0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0" y="3489579"/>
                </a:lnTo>
                <a:lnTo>
                  <a:pt x="1708088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8352" y="-1930325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2245553" y="-20574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1" y="4114800"/>
                </a:lnTo>
                <a:lnTo>
                  <a:pt x="531418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61706" y="9435241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1" y="0"/>
                </a:lnTo>
                <a:lnTo>
                  <a:pt x="17080881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268117" y="6102964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7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7" y="0"/>
                </a:lnTo>
                <a:lnTo>
                  <a:pt x="4859647" y="532277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858176" y="82296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1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1" y="4114800"/>
                </a:lnTo>
                <a:lnTo>
                  <a:pt x="53141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3879" y="3392449"/>
            <a:ext cx="9735942" cy="5671186"/>
          </a:xfrm>
          <a:custGeom>
            <a:avLst/>
            <a:gdLst/>
            <a:ahLst/>
            <a:cxnLst/>
            <a:rect r="r" b="b" t="t" l="l"/>
            <a:pathLst>
              <a:path h="5671186" w="9735942">
                <a:moveTo>
                  <a:pt x="0" y="0"/>
                </a:moveTo>
                <a:lnTo>
                  <a:pt x="9735942" y="0"/>
                </a:lnTo>
                <a:lnTo>
                  <a:pt x="9735942" y="5671186"/>
                </a:lnTo>
                <a:lnTo>
                  <a:pt x="0" y="56711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35001" y="1952625"/>
            <a:ext cx="14617998" cy="185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2"/>
              </a:lnSpc>
            </a:pPr>
            <a:r>
              <a:rPr lang="en-US" sz="532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Core Network &amp; Dual Stack Server Network</a:t>
            </a:r>
          </a:p>
          <a:p>
            <a:pPr algn="ctr">
              <a:lnSpc>
                <a:spcPts val="7452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089821" y="4314647"/>
            <a:ext cx="6576241" cy="289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sz="55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EBA MOHAMED ABBAS AHMED</a:t>
            </a:r>
          </a:p>
          <a:p>
            <a:pPr algn="ctr">
              <a:lnSpc>
                <a:spcPts val="7769"/>
              </a:lnSpc>
              <a:spcBef>
                <a:spcPct val="0"/>
              </a:spcBef>
            </a:pPr>
            <a:r>
              <a:rPr lang="en-US" sz="55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242UC243BE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6116" y="9865594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0" y="0"/>
                </a:lnTo>
                <a:lnTo>
                  <a:pt x="17080880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30909" y="8948996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2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2" y="4114800"/>
                </a:lnTo>
                <a:lnTo>
                  <a:pt x="531418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012795" y="-2627077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0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0" y="3489579"/>
                </a:lnTo>
                <a:lnTo>
                  <a:pt x="1708088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226290" y="-2103826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2" y="4114800"/>
                </a:lnTo>
                <a:lnTo>
                  <a:pt x="53141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75952" y="771511"/>
            <a:ext cx="10536096" cy="98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9"/>
              </a:lnSpc>
            </a:pPr>
            <a:r>
              <a:rPr lang="en-US" b="true" sz="5592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NETWORKS CONFIGURED BY MEMBER 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825264" y="5143500"/>
            <a:ext cx="2244648" cy="2925489"/>
          </a:xfrm>
          <a:custGeom>
            <a:avLst/>
            <a:gdLst/>
            <a:ahLst/>
            <a:cxnLst/>
            <a:rect r="r" b="b" t="t" l="l"/>
            <a:pathLst>
              <a:path h="2925489" w="2244648">
                <a:moveTo>
                  <a:pt x="0" y="0"/>
                </a:moveTo>
                <a:lnTo>
                  <a:pt x="2244648" y="0"/>
                </a:lnTo>
                <a:lnTo>
                  <a:pt x="2244648" y="2925489"/>
                </a:lnTo>
                <a:lnTo>
                  <a:pt x="0" y="29254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55619" y="-907793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-1226290" y="6287610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8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8" y="0"/>
                </a:lnTo>
                <a:lnTo>
                  <a:pt x="4859648" y="532277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134047">
            <a:off x="-505674" y="2038279"/>
            <a:ext cx="2244648" cy="2925489"/>
          </a:xfrm>
          <a:custGeom>
            <a:avLst/>
            <a:gdLst/>
            <a:ahLst/>
            <a:cxnLst/>
            <a:rect r="r" b="b" t="t" l="l"/>
            <a:pathLst>
              <a:path h="2925489" w="2244648">
                <a:moveTo>
                  <a:pt x="0" y="0"/>
                </a:moveTo>
                <a:lnTo>
                  <a:pt x="2244648" y="0"/>
                </a:lnTo>
                <a:lnTo>
                  <a:pt x="2244648" y="2925489"/>
                </a:lnTo>
                <a:lnTo>
                  <a:pt x="0" y="29254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486400" y="1753594"/>
          <a:ext cx="7315200" cy="661987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4945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🟨 Network 3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Core Network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🟣 Network 4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Dual-Stack Servers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Network 6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🟪 Web Server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0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 Switches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DNS Server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202.10.13.2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0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STP Enabled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Email Server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Direct to R1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0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Redundant Mesh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FTP Server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Crossover Cable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0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Trunk Links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Dual Stack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Via Fa0/0/0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0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202.10.12.0/24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VLAN 1 config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1304139" y="8663882"/>
            <a:ext cx="16643449" cy="51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0"/>
              </a:lnSpc>
              <a:spcBef>
                <a:spcPct val="0"/>
              </a:spcBef>
            </a:pPr>
            <a:r>
              <a:rPr lang="en-US" b="true" sz="305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Footer: </a:t>
            </a:r>
            <a:r>
              <a:rPr lang="en-US" sz="3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IPv4: 202.10.12.x &amp; 202.10.13.x | IPv6: 2001:db8:1012:2006:: &amp; 2001:db8:1013:2006::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972679" y="-2825013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0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0" y="3489579"/>
                </a:lnTo>
                <a:lnTo>
                  <a:pt x="1708088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8352" y="-1632687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52402" y="5805326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7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7" y="0"/>
                </a:lnTo>
                <a:lnTo>
                  <a:pt x="4859647" y="532277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290497" y="82296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2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2" y="4114800"/>
                </a:lnTo>
                <a:lnTo>
                  <a:pt x="531418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185218" y="-20574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1" y="4114800"/>
                </a:lnTo>
                <a:lnTo>
                  <a:pt x="531418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996778" y="1504671"/>
            <a:ext cx="378015" cy="37801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96778" y="2217021"/>
            <a:ext cx="378015" cy="37801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96778" y="4523430"/>
            <a:ext cx="378015" cy="37801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260726" y="2595036"/>
            <a:ext cx="10080131" cy="5871676"/>
          </a:xfrm>
          <a:custGeom>
            <a:avLst/>
            <a:gdLst/>
            <a:ahLst/>
            <a:cxnLst/>
            <a:rect r="r" b="b" t="t" l="l"/>
            <a:pathLst>
              <a:path h="5871676" w="10080131">
                <a:moveTo>
                  <a:pt x="0" y="0"/>
                </a:moveTo>
                <a:lnTo>
                  <a:pt x="10080131" y="0"/>
                </a:lnTo>
                <a:lnTo>
                  <a:pt x="10080131" y="5871676"/>
                </a:lnTo>
                <a:lnTo>
                  <a:pt x="0" y="58716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587462" y="531216"/>
            <a:ext cx="13113076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b="true" sz="555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YELLOW AREA (CORE) + PURPLE AREA (SERVERS)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40492" y="1437996"/>
            <a:ext cx="13237616" cy="884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HIGH AVAILABILITY CORE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Devices: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 x Cisco 2950-24 Switches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CoreSwitch1 (Root Bridge)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CoreSwitch2, 3, 4, 5, 6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Features: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1- Spanning Tree Protocol (RSTP)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• Priority 4096 (Root)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• 12 FWD, 4 BLK ports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2- 802.1q Trunk Links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• All inter-switch connections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• Native VLAN 1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3- Redundant Topology</a:t>
            </a:r>
          </a:p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• Multiple paths</a:t>
            </a:r>
          </a:p>
          <a:p>
            <a:pPr algn="l">
              <a:lnSpc>
                <a:spcPts val="4661"/>
              </a:lnSpc>
              <a:spcBef>
                <a:spcPct val="0"/>
              </a:spcBef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• Automatic failover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972679" y="-2825013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0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0" y="3489579"/>
                </a:lnTo>
                <a:lnTo>
                  <a:pt x="1708088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8352" y="-1632687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52402" y="5805326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7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7" y="0"/>
                </a:lnTo>
                <a:lnTo>
                  <a:pt x="4859647" y="532277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858176" y="9070699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1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1" y="4114800"/>
                </a:lnTo>
                <a:lnTo>
                  <a:pt x="53141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185218" y="-20574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1" y="4114800"/>
                </a:lnTo>
                <a:lnTo>
                  <a:pt x="531418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7779" y="6686764"/>
            <a:ext cx="11301259" cy="3559897"/>
          </a:xfrm>
          <a:custGeom>
            <a:avLst/>
            <a:gdLst/>
            <a:ahLst/>
            <a:cxnLst/>
            <a:rect r="r" b="b" t="t" l="l"/>
            <a:pathLst>
              <a:path h="3559897" w="11301259">
                <a:moveTo>
                  <a:pt x="0" y="0"/>
                </a:moveTo>
                <a:lnTo>
                  <a:pt x="11301259" y="0"/>
                </a:lnTo>
                <a:lnTo>
                  <a:pt x="11301259" y="3559897"/>
                </a:lnTo>
                <a:lnTo>
                  <a:pt x="0" y="35598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7779" y="2000250"/>
            <a:ext cx="7919332" cy="409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9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Challenge:</a:t>
            </a:r>
          </a:p>
          <a:p>
            <a:pPr algn="l">
              <a:lnSpc>
                <a:spcPts val="4102"/>
              </a:lnSpc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REQUIREMENT: Web Server → Router1 Fa0/0/0 (Crossover Cable)</a:t>
            </a:r>
          </a:p>
          <a:p>
            <a:pPr algn="l">
              <a:lnSpc>
                <a:spcPts val="4102"/>
              </a:lnSpc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PROBLEM: Fa0/0/0 = Switch port (cannot route)</a:t>
            </a:r>
          </a:p>
          <a:p>
            <a:pPr algn="l">
              <a:lnSpc>
                <a:spcPts val="4102"/>
              </a:lnSpc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PROBLEM: Gig0/1 already uses 202.10.12.0/24</a:t>
            </a:r>
          </a:p>
          <a:p>
            <a:pPr algn="l">
              <a:lnSpc>
                <a:spcPts val="4102"/>
              </a:lnSpc>
              <a:spcBef>
                <a:spcPct val="0"/>
              </a:spcBef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Cannot have same subnet on two interfaces!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55437" y="475298"/>
            <a:ext cx="13113076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b="true" sz="555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WEB SERVER - CHALLENGE AND 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06860" y="2000250"/>
            <a:ext cx="9908407" cy="461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9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The Solution:</a:t>
            </a:r>
          </a:p>
          <a:p>
            <a:pPr algn="l">
              <a:lnSpc>
                <a:spcPts val="4102"/>
              </a:lnSpc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SOLUTION IMPLEMENTED:</a:t>
            </a:r>
          </a:p>
          <a:p>
            <a:pPr algn="l">
              <a:lnSpc>
                <a:spcPts val="4102"/>
              </a:lnSpc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Created Separate Subnet:</a:t>
            </a:r>
          </a:p>
          <a:p>
            <a:pPr algn="l">
              <a:lnSpc>
                <a:spcPts val="4102"/>
              </a:lnSpc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- IPv4: 202.10.13.0/24</a:t>
            </a:r>
          </a:p>
          <a:p>
            <a:pPr algn="l">
              <a:lnSpc>
                <a:spcPts val="4102"/>
              </a:lnSpc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- IPv6: 2001:db8:1013:2006::/64</a:t>
            </a:r>
          </a:p>
          <a:p>
            <a:pPr algn="l">
              <a:lnSpc>
                <a:spcPts val="4102"/>
              </a:lnSpc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Configuration:</a:t>
            </a:r>
          </a:p>
          <a:p>
            <a:pPr algn="l">
              <a:lnSpc>
                <a:spcPts val="4102"/>
              </a:lnSpc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Router1 VLAN 1: 202.10.13.1 / 2001:db8:1013:2006::1</a:t>
            </a:r>
          </a:p>
          <a:p>
            <a:pPr algn="l">
              <a:lnSpc>
                <a:spcPts val="4102"/>
              </a:lnSpc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Web Server: 202.10.13.2 / 2001:db8:1013:2006::2</a:t>
            </a:r>
          </a:p>
          <a:p>
            <a:pPr algn="l">
              <a:lnSpc>
                <a:spcPts val="4102"/>
              </a:lnSpc>
              <a:spcBef>
                <a:spcPct val="0"/>
              </a:spcBef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Added to OSPF → Full Network Connectivity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972679" y="-2825013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0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0" y="3489579"/>
                </a:lnTo>
                <a:lnTo>
                  <a:pt x="1708088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8352" y="-1632687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858176" y="9070699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1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1" y="4114800"/>
                </a:lnTo>
                <a:lnTo>
                  <a:pt x="53141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185218" y="-20574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1" y="4114800"/>
                </a:lnTo>
                <a:lnTo>
                  <a:pt x="531418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81956" y="2375991"/>
            <a:ext cx="17438016" cy="6517458"/>
          </a:xfrm>
          <a:custGeom>
            <a:avLst/>
            <a:gdLst/>
            <a:ahLst/>
            <a:cxnLst/>
            <a:rect r="r" b="b" t="t" l="l"/>
            <a:pathLst>
              <a:path h="6517458" w="17438016">
                <a:moveTo>
                  <a:pt x="0" y="0"/>
                </a:moveTo>
                <a:lnTo>
                  <a:pt x="17438016" y="0"/>
                </a:lnTo>
                <a:lnTo>
                  <a:pt x="17438016" y="6517459"/>
                </a:lnTo>
                <a:lnTo>
                  <a:pt x="0" y="65174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55437" y="475298"/>
            <a:ext cx="13113076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b="true" sz="555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SECURITY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9654" y="1401127"/>
            <a:ext cx="8072302" cy="83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ROUTER1: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Interfaces: </a:t>
            </a:r>
            <a:r>
              <a:rPr lang="en-US" sz="28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Gi0/2, Gi0/1, Vlan1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OSPF routing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Passwords:</a:t>
            </a:r>
            <a:r>
              <a:rPr lang="en-US" sz="28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Enable-secret: Secure@R1#2026, C</a:t>
            </a: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onsole: </a:t>
            </a:r>
            <a:r>
              <a:rPr lang="en-US" sz="28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Console@R1, VTY: VTY@R1secure, </a:t>
            </a: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SSH: </a:t>
            </a:r>
            <a:r>
              <a:rPr lang="en-US" sz="28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admin/Admin@2026!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ACLs: </a:t>
            </a:r>
            <a:r>
              <a:rPr lang="en-US" sz="28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101, 102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SSH enabled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Banner message</a:t>
            </a:r>
          </a:p>
          <a:p>
            <a:pPr algn="l">
              <a:lnSpc>
                <a:spcPts val="3962"/>
              </a:lnSpc>
            </a:pP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SWITCHES (Switch1, Switch3, Switch4, Switch5, Switch11): x = switch number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Enable-secret: </a:t>
            </a:r>
            <a:r>
              <a:rPr lang="en-US" sz="28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Secure@SWx#2026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Console</a:t>
            </a:r>
            <a:r>
              <a:rPr lang="en-US" sz="28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Console@SWx</a:t>
            </a:r>
          </a:p>
          <a:p>
            <a:pPr algn="l">
              <a:lnSpc>
                <a:spcPts val="3962"/>
              </a:lnSpc>
            </a:pPr>
            <a:r>
              <a:rPr lang="en-US" sz="28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8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TY</a:t>
            </a:r>
            <a:r>
              <a:rPr lang="en-US" sz="28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VTY@SWxsecure</a:t>
            </a:r>
          </a:p>
          <a:p>
            <a:pPr algn="l">
              <a:lnSpc>
                <a:spcPts val="3962"/>
              </a:lnSpc>
            </a:pPr>
            <a:r>
              <a:rPr lang="en-US" sz="28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Trunk ports configured</a:t>
            </a:r>
          </a:p>
          <a:p>
            <a:pPr algn="l">
              <a:lnSpc>
                <a:spcPts val="3962"/>
              </a:lnSpc>
              <a:spcBef>
                <a:spcPct val="0"/>
              </a:spcBef>
            </a:pPr>
            <a:r>
              <a:rPr lang="en-US" sz="28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Password encryption enabled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0811" y="-2591096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0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0" y="3489579"/>
                </a:lnTo>
                <a:lnTo>
                  <a:pt x="1708088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8352" y="-1930325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2245553" y="-20574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1" y="4114800"/>
                </a:lnTo>
                <a:lnTo>
                  <a:pt x="531418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61706" y="9435241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1" y="0"/>
                </a:lnTo>
                <a:lnTo>
                  <a:pt x="17080881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268117" y="6102964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7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7" y="0"/>
                </a:lnTo>
                <a:lnTo>
                  <a:pt x="4859647" y="532277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858176" y="82296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1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1" y="4114800"/>
                </a:lnTo>
                <a:lnTo>
                  <a:pt x="53141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06829" y="3392449"/>
            <a:ext cx="5184526" cy="3990966"/>
          </a:xfrm>
          <a:custGeom>
            <a:avLst/>
            <a:gdLst/>
            <a:ahLst/>
            <a:cxnLst/>
            <a:rect r="r" b="b" t="t" l="l"/>
            <a:pathLst>
              <a:path h="3990966" w="5184526">
                <a:moveTo>
                  <a:pt x="0" y="0"/>
                </a:moveTo>
                <a:lnTo>
                  <a:pt x="5184526" y="0"/>
                </a:lnTo>
                <a:lnTo>
                  <a:pt x="5184526" y="3990965"/>
                </a:lnTo>
                <a:lnTo>
                  <a:pt x="0" y="39909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47042" y="1146835"/>
            <a:ext cx="7793917" cy="91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2"/>
              </a:lnSpc>
              <a:spcBef>
                <a:spcPct val="0"/>
              </a:spcBef>
            </a:pPr>
            <a:r>
              <a:rPr lang="en-US" b="true" sz="532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Network 1 and Routing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891522"/>
            <a:ext cx="6246071" cy="289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sz="555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Member 2 :</a:t>
            </a:r>
          </a:p>
          <a:p>
            <a:pPr algn="ctr">
              <a:lnSpc>
                <a:spcPts val="7769"/>
              </a:lnSpc>
            </a:pPr>
            <a:r>
              <a:rPr lang="en-US" sz="55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LAMA M. R. SIAM</a:t>
            </a:r>
          </a:p>
          <a:p>
            <a:pPr algn="ctr">
              <a:lnSpc>
                <a:spcPts val="7769"/>
              </a:lnSpc>
              <a:spcBef>
                <a:spcPct val="0"/>
              </a:spcBef>
            </a:pPr>
            <a:r>
              <a:rPr lang="en-US" sz="55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242UC243B4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745640" y="3392449"/>
            <a:ext cx="3830948" cy="3964130"/>
          </a:xfrm>
          <a:custGeom>
            <a:avLst/>
            <a:gdLst/>
            <a:ahLst/>
            <a:cxnLst/>
            <a:rect r="r" b="b" t="t" l="l"/>
            <a:pathLst>
              <a:path h="3964130" w="3830948">
                <a:moveTo>
                  <a:pt x="0" y="0"/>
                </a:moveTo>
                <a:lnTo>
                  <a:pt x="3830947" y="0"/>
                </a:lnTo>
                <a:lnTo>
                  <a:pt x="3830947" y="3964129"/>
                </a:lnTo>
                <a:lnTo>
                  <a:pt x="0" y="3964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06100" y="9799554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1" y="0"/>
                </a:lnTo>
                <a:lnTo>
                  <a:pt x="17080881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358471" y="82296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2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2" y="4114800"/>
                </a:lnTo>
                <a:lnTo>
                  <a:pt x="531418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012795" y="-2627077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0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0" y="3489579"/>
                </a:lnTo>
                <a:lnTo>
                  <a:pt x="1708088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246421" y="-20574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1" y="4114800"/>
                </a:lnTo>
                <a:lnTo>
                  <a:pt x="531418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25264" y="5143500"/>
            <a:ext cx="2244648" cy="2925489"/>
          </a:xfrm>
          <a:custGeom>
            <a:avLst/>
            <a:gdLst/>
            <a:ahLst/>
            <a:cxnLst/>
            <a:rect r="r" b="b" t="t" l="l"/>
            <a:pathLst>
              <a:path h="2925489" w="2244648">
                <a:moveTo>
                  <a:pt x="0" y="0"/>
                </a:moveTo>
                <a:lnTo>
                  <a:pt x="2244648" y="0"/>
                </a:lnTo>
                <a:lnTo>
                  <a:pt x="2244648" y="2925489"/>
                </a:lnTo>
                <a:lnTo>
                  <a:pt x="0" y="29254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55619" y="-907793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-277537" y="6059646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7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7" y="0"/>
                </a:lnTo>
                <a:lnTo>
                  <a:pt x="4859647" y="532277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134047">
            <a:off x="-505674" y="2038279"/>
            <a:ext cx="2244648" cy="2925489"/>
          </a:xfrm>
          <a:custGeom>
            <a:avLst/>
            <a:gdLst/>
            <a:ahLst/>
            <a:cxnLst/>
            <a:rect r="r" b="b" t="t" l="l"/>
            <a:pathLst>
              <a:path h="2925489" w="2244648">
                <a:moveTo>
                  <a:pt x="0" y="0"/>
                </a:moveTo>
                <a:lnTo>
                  <a:pt x="2244648" y="0"/>
                </a:lnTo>
                <a:lnTo>
                  <a:pt x="2244648" y="2925489"/>
                </a:lnTo>
                <a:lnTo>
                  <a:pt x="0" y="29254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689745" y="1219215"/>
            <a:ext cx="378015" cy="37801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38634" y="3501023"/>
            <a:ext cx="378015" cy="37801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44364" y="7264865"/>
            <a:ext cx="378015" cy="37801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384116" y="1848844"/>
            <a:ext cx="11269679" cy="1483603"/>
          </a:xfrm>
          <a:custGeom>
            <a:avLst/>
            <a:gdLst/>
            <a:ahLst/>
            <a:cxnLst/>
            <a:rect r="r" b="b" t="t" l="l"/>
            <a:pathLst>
              <a:path h="1483603" w="11269679">
                <a:moveTo>
                  <a:pt x="0" y="0"/>
                </a:moveTo>
                <a:lnTo>
                  <a:pt x="11269678" y="0"/>
                </a:lnTo>
                <a:lnTo>
                  <a:pt x="11269678" y="1483603"/>
                </a:lnTo>
                <a:lnTo>
                  <a:pt x="0" y="14836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582110" y="-133350"/>
            <a:ext cx="7862542" cy="98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9"/>
              </a:lnSpc>
            </a:pPr>
            <a:r>
              <a:rPr lang="en-US" b="true" sz="5592">
                <a:solidFill>
                  <a:srgbClr val="112B68"/>
                </a:solidFill>
                <a:latin typeface="Ahkio Bold"/>
                <a:ea typeface="Ahkio Bold"/>
                <a:cs typeface="Ahkio Bold"/>
                <a:sym typeface="Ahkio Bold"/>
              </a:rPr>
              <a:t>🔄 NETWORK AND ROUTING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02621" y="1106472"/>
            <a:ext cx="8538270" cy="54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6"/>
              </a:lnSpc>
              <a:spcBef>
                <a:spcPct val="0"/>
              </a:spcBef>
            </a:pPr>
            <a:r>
              <a:rPr lang="en-US" sz="3240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Netw</a:t>
            </a:r>
            <a:r>
              <a:rPr lang="en-US" sz="3240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ork uses OSPF (Open Shortest Path First)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7358" y="3443873"/>
            <a:ext cx="5656029" cy="3515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6"/>
              </a:lnSpc>
              <a:spcBef>
                <a:spcPct val="0"/>
              </a:spcBef>
            </a:pPr>
            <a:r>
              <a:rPr lang="en-US" sz="3326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Reas</a:t>
            </a:r>
            <a:r>
              <a:rPr lang="en-US" sz="3326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ons for using OSPF:</a:t>
            </a:r>
          </a:p>
          <a:p>
            <a:pPr algn="l" marL="718105" indent="-359052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6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Automatic route updates</a:t>
            </a:r>
          </a:p>
          <a:p>
            <a:pPr algn="l" marL="718105" indent="-359052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6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Fast failover</a:t>
            </a:r>
          </a:p>
          <a:p>
            <a:pPr algn="l" marL="718105" indent="-359052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6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Scalable for large networks</a:t>
            </a:r>
          </a:p>
          <a:p>
            <a:pPr algn="l" marL="718105" indent="-359052" lvl="1">
              <a:lnSpc>
                <a:spcPts val="4656"/>
              </a:lnSpc>
              <a:buFont typeface="Arial"/>
              <a:buChar char="•"/>
            </a:pPr>
            <a:r>
              <a:rPr lang="en-US" sz="3326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Industry standard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7358" y="7143689"/>
            <a:ext cx="7832498" cy="56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6"/>
              </a:lnSpc>
            </a:pPr>
            <a:r>
              <a:rPr lang="en-US" sz="3326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Routers from FULL neighbor relationship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5475" y="7849781"/>
            <a:ext cx="4588540" cy="181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1748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OSPF CONFIGURATION DETAILS:</a:t>
            </a:r>
          </a:p>
          <a:p>
            <a:pPr algn="l">
              <a:lnSpc>
                <a:spcPts val="2447"/>
              </a:lnSpc>
            </a:pPr>
            <a:r>
              <a:rPr lang="en-US" sz="1748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✓ All routers in Area 0</a:t>
            </a:r>
          </a:p>
          <a:p>
            <a:pPr algn="l">
              <a:lnSpc>
                <a:spcPts val="2447"/>
              </a:lnSpc>
            </a:pPr>
            <a:r>
              <a:rPr lang="en-US" sz="1748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✓ Router IDs: 1.1.1.1, 2.2.2.2, 3.3.3.3</a:t>
            </a:r>
          </a:p>
          <a:p>
            <a:pPr algn="l">
              <a:lnSpc>
                <a:spcPts val="2447"/>
              </a:lnSpc>
            </a:pPr>
            <a:r>
              <a:rPr lang="en-US" sz="1748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✓ Dynamic route learning</a:t>
            </a:r>
          </a:p>
          <a:p>
            <a:pPr algn="l">
              <a:lnSpc>
                <a:spcPts val="2447"/>
              </a:lnSpc>
            </a:pPr>
            <a:r>
              <a:rPr lang="en-US" sz="1748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✓ Convergence time: ~5 seconds</a:t>
            </a:r>
          </a:p>
          <a:p>
            <a:pPr algn="l">
              <a:lnSpc>
                <a:spcPts val="2447"/>
              </a:lnSpc>
            </a:pPr>
            <a:r>
              <a:rPr lang="en-US" sz="1748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✓ Automatic failover enabled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721907" y="3577801"/>
            <a:ext cx="9225681" cy="5143232"/>
          </a:xfrm>
          <a:custGeom>
            <a:avLst/>
            <a:gdLst/>
            <a:ahLst/>
            <a:cxnLst/>
            <a:rect r="r" b="b" t="t" l="l"/>
            <a:pathLst>
              <a:path h="5143232" w="9225681">
                <a:moveTo>
                  <a:pt x="0" y="0"/>
                </a:moveTo>
                <a:lnTo>
                  <a:pt x="9225681" y="0"/>
                </a:lnTo>
                <a:lnTo>
                  <a:pt x="9225681" y="5143231"/>
                </a:lnTo>
                <a:lnTo>
                  <a:pt x="0" y="51432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009" r="0" b="-1009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970302" y="-2342205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0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0" y="3489579"/>
                </a:lnTo>
                <a:lnTo>
                  <a:pt x="1708088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8352" y="-1409238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95488" y="9638886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0" y="0"/>
                </a:lnTo>
                <a:lnTo>
                  <a:pt x="17080880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0" y="6270964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8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8" y="0"/>
                </a:lnTo>
                <a:lnTo>
                  <a:pt x="4859648" y="532277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332859" y="82296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2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2" y="4114800"/>
                </a:lnTo>
                <a:lnTo>
                  <a:pt x="531418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2639" y="-20574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1" y="4114800"/>
                </a:lnTo>
                <a:lnTo>
                  <a:pt x="531418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048823" y="2508082"/>
            <a:ext cx="378015" cy="37801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48823" y="3525290"/>
            <a:ext cx="378015" cy="3780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048823" y="4541480"/>
            <a:ext cx="378015" cy="37801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08481" y="2444105"/>
            <a:ext cx="5418143" cy="4190733"/>
          </a:xfrm>
          <a:custGeom>
            <a:avLst/>
            <a:gdLst/>
            <a:ahLst/>
            <a:cxnLst/>
            <a:rect r="r" b="b" t="t" l="l"/>
            <a:pathLst>
              <a:path h="4190733" w="5418143">
                <a:moveTo>
                  <a:pt x="0" y="0"/>
                </a:moveTo>
                <a:lnTo>
                  <a:pt x="5418144" y="0"/>
                </a:lnTo>
                <a:lnTo>
                  <a:pt x="5418144" y="4190734"/>
                </a:lnTo>
                <a:lnTo>
                  <a:pt x="0" y="4190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68607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048823" y="6834864"/>
            <a:ext cx="378015" cy="37801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54182" y="6944360"/>
            <a:ext cx="4326741" cy="2694526"/>
          </a:xfrm>
          <a:custGeom>
            <a:avLst/>
            <a:gdLst/>
            <a:ahLst/>
            <a:cxnLst/>
            <a:rect r="r" b="b" t="t" l="l"/>
            <a:pathLst>
              <a:path h="2694526" w="4326741">
                <a:moveTo>
                  <a:pt x="0" y="0"/>
                </a:moveTo>
                <a:lnTo>
                  <a:pt x="4326742" y="0"/>
                </a:lnTo>
                <a:lnTo>
                  <a:pt x="4326742" y="2694526"/>
                </a:lnTo>
                <a:lnTo>
                  <a:pt x="0" y="26945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999" t="0" r="-12553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428352" y="5483128"/>
            <a:ext cx="4560776" cy="787836"/>
          </a:xfrm>
          <a:custGeom>
            <a:avLst/>
            <a:gdLst/>
            <a:ahLst/>
            <a:cxnLst/>
            <a:rect r="r" b="b" t="t" l="l"/>
            <a:pathLst>
              <a:path h="787836" w="4560776">
                <a:moveTo>
                  <a:pt x="0" y="0"/>
                </a:moveTo>
                <a:lnTo>
                  <a:pt x="4560776" y="0"/>
                </a:lnTo>
                <a:lnTo>
                  <a:pt x="4560776" y="787836"/>
                </a:lnTo>
                <a:lnTo>
                  <a:pt x="0" y="7878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668414" y="1208047"/>
            <a:ext cx="9759939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9"/>
              </a:lnSpc>
            </a:pPr>
            <a:r>
              <a:rPr lang="en-US" b="true" sz="585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💻 DHCP CONFIGURATION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15825" y="2377430"/>
            <a:ext cx="4355349" cy="57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1"/>
              </a:lnSpc>
              <a:spcBef>
                <a:spcPct val="0"/>
              </a:spcBef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Configure on Router 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15846" y="3396976"/>
            <a:ext cx="7280791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1"/>
              </a:lnSpc>
              <a:spcBef>
                <a:spcPct val="0"/>
              </a:spcBef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Automatically assigns IPv4 addresses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15846" y="4484330"/>
            <a:ext cx="7516536" cy="215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0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DHCP pool: </a:t>
            </a:r>
          </a:p>
          <a:p>
            <a:pPr algn="l" marL="665900" indent="-332950" lvl="1">
              <a:lnSpc>
                <a:spcPts val="4318"/>
              </a:lnSpc>
              <a:buFont typeface="Arial"/>
              <a:buChar char="•"/>
            </a:pPr>
            <a:r>
              <a:rPr lang="en-US" sz="30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IP range: 202.3.10.10 to .100</a:t>
            </a:r>
          </a:p>
          <a:p>
            <a:pPr algn="l" marL="665900" indent="-332950" lvl="1">
              <a:lnSpc>
                <a:spcPts val="4318"/>
              </a:lnSpc>
              <a:buFont typeface="Arial"/>
              <a:buChar char="•"/>
            </a:pPr>
            <a:r>
              <a:rPr lang="en-US" sz="30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Gateway: 202.3.10.1 (Router 2)</a:t>
            </a:r>
          </a:p>
          <a:p>
            <a:pPr algn="l" marL="665900" indent="-332950" lvl="1">
              <a:lnSpc>
                <a:spcPts val="4318"/>
              </a:lnSpc>
              <a:spcBef>
                <a:spcPct val="0"/>
              </a:spcBef>
              <a:buFont typeface="Arial"/>
              <a:buChar char="•"/>
            </a:pPr>
            <a:r>
              <a:rPr lang="en-US" sz="30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DNS server: 202.10.12.10 (DNS)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15846" y="6777714"/>
            <a:ext cx="7516536" cy="377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0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WHY DHCP?</a:t>
            </a:r>
          </a:p>
          <a:p>
            <a:pPr algn="l">
              <a:lnSpc>
                <a:spcPts val="4318"/>
              </a:lnSpc>
            </a:pPr>
            <a:r>
              <a:rPr lang="en-US" sz="30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✓ No manual configuration needed</a:t>
            </a:r>
          </a:p>
          <a:p>
            <a:pPr algn="l">
              <a:lnSpc>
                <a:spcPts val="4318"/>
              </a:lnSpc>
            </a:pPr>
            <a:r>
              <a:rPr lang="en-US" sz="30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✓ Eliminates human errors</a:t>
            </a:r>
          </a:p>
          <a:p>
            <a:pPr algn="l">
              <a:lnSpc>
                <a:spcPts val="4318"/>
              </a:lnSpc>
            </a:pPr>
            <a:r>
              <a:rPr lang="en-US" sz="30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✓ Saves time in large networks</a:t>
            </a:r>
          </a:p>
          <a:p>
            <a:pPr algn="l">
              <a:lnSpc>
                <a:spcPts val="4318"/>
              </a:lnSpc>
            </a:pPr>
            <a:r>
              <a:rPr lang="en-US" sz="30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✓ Automatic IP management</a:t>
            </a:r>
          </a:p>
          <a:p>
            <a:pPr algn="l">
              <a:lnSpc>
                <a:spcPts val="4318"/>
              </a:lnSpc>
            </a:pPr>
          </a:p>
          <a:p>
            <a:pPr algn="l">
              <a:lnSpc>
                <a:spcPts val="4318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130505" y="6596739"/>
            <a:ext cx="7516536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CURRENT STATUS: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📊 Active clients: 4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⏱️ Lease time: 24 hours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All clients connected successfully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995437" y="-2460879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0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0" y="3489579"/>
                </a:lnTo>
                <a:lnTo>
                  <a:pt x="1708088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8352" y="-1632687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66235" y="9732879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0" y="0"/>
                </a:lnTo>
                <a:lnTo>
                  <a:pt x="17080880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252402" y="5805326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7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7" y="0"/>
                </a:lnTo>
                <a:lnTo>
                  <a:pt x="4859647" y="532277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290497" y="82296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2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2" y="4114800"/>
                </a:lnTo>
                <a:lnTo>
                  <a:pt x="531418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185218" y="-20574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1" y="4114800"/>
                </a:lnTo>
                <a:lnTo>
                  <a:pt x="531418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3972" y="2808247"/>
            <a:ext cx="5966365" cy="6173785"/>
          </a:xfrm>
          <a:custGeom>
            <a:avLst/>
            <a:gdLst/>
            <a:ahLst/>
            <a:cxnLst/>
            <a:rect r="r" b="b" t="t" l="l"/>
            <a:pathLst>
              <a:path h="6173785" w="5966365">
                <a:moveTo>
                  <a:pt x="0" y="0"/>
                </a:moveTo>
                <a:lnTo>
                  <a:pt x="5966365" y="0"/>
                </a:lnTo>
                <a:lnTo>
                  <a:pt x="5966365" y="6173785"/>
                </a:lnTo>
                <a:lnTo>
                  <a:pt x="0" y="61737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766459" y="2872224"/>
            <a:ext cx="378015" cy="37801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766459" y="3859839"/>
            <a:ext cx="378015" cy="37801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69049" y="5828529"/>
            <a:ext cx="378015" cy="37801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68186" y="8024721"/>
            <a:ext cx="378015" cy="37801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029808" y="7895653"/>
            <a:ext cx="3353734" cy="1419620"/>
          </a:xfrm>
          <a:custGeom>
            <a:avLst/>
            <a:gdLst/>
            <a:ahLst/>
            <a:cxnLst/>
            <a:rect r="r" b="b" t="t" l="l"/>
            <a:pathLst>
              <a:path h="1419620" w="3353734">
                <a:moveTo>
                  <a:pt x="0" y="0"/>
                </a:moveTo>
                <a:lnTo>
                  <a:pt x="3353734" y="0"/>
                </a:lnTo>
                <a:lnTo>
                  <a:pt x="3353734" y="1419621"/>
                </a:lnTo>
                <a:lnTo>
                  <a:pt x="0" y="1419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824589" y="1267536"/>
            <a:ext cx="10156330" cy="973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b="true" sz="555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🔒 SPANNING TREE PROTOCOL (STP)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50597" y="2507713"/>
            <a:ext cx="8708703" cy="994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Purpose: </a:t>
            </a:r>
          </a:p>
          <a:p>
            <a:pPr algn="l" marL="503052" indent="-251526" lvl="1">
              <a:lnSpc>
                <a:spcPts val="3262"/>
              </a:lnSpc>
              <a:spcBef>
                <a:spcPct val="0"/>
              </a:spcBef>
              <a:buFont typeface="Arial"/>
              <a:buChar char="•"/>
            </a:pPr>
            <a:r>
              <a:rPr lang="en-US" sz="23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Prevents network loops and ensures high availability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55776" y="3704136"/>
            <a:ext cx="8161627" cy="176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STP configuration ⚙️:</a:t>
            </a:r>
          </a:p>
          <a:p>
            <a:pPr algn="l" marL="501067" indent="-250534" lvl="1">
              <a:lnSpc>
                <a:spcPts val="3249"/>
              </a:lnSpc>
              <a:buFont typeface="Arial"/>
              <a:buChar char="•"/>
            </a:pPr>
            <a:r>
              <a:rPr lang="en-US" sz="23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Core-Switch-1 → Root Bridge (Priority 4096)</a:t>
            </a:r>
          </a:p>
          <a:p>
            <a:pPr algn="l" marL="501067" indent="-250534" lvl="1">
              <a:lnSpc>
                <a:spcPts val="3249"/>
              </a:lnSpc>
              <a:buFont typeface="Arial"/>
              <a:buChar char="•"/>
            </a:pPr>
            <a:r>
              <a:rPr lang="en-US" sz="23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Core-Switch-2 → Backup Root (Priority 8192)</a:t>
            </a:r>
          </a:p>
          <a:p>
            <a:pPr algn="l" marL="501067" indent="-250534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3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Mode: Rapid-PVST+ (fast convergence)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55776" y="5663938"/>
            <a:ext cx="8708703" cy="181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How it works: </a:t>
            </a:r>
          </a:p>
          <a:p>
            <a:pPr algn="l">
              <a:lnSpc>
                <a:spcPts val="3262"/>
              </a:lnSpc>
            </a:pPr>
            <a:r>
              <a:rPr lang="en-US" sz="23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Red links = Blocked (backup paths) </a:t>
            </a:r>
          </a:p>
          <a:p>
            <a:pPr algn="l">
              <a:lnSpc>
                <a:spcPts val="3262"/>
              </a:lnSpc>
            </a:pPr>
            <a:r>
              <a:rPr lang="en-US" sz="23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Green links = Forwarding (active paths) </a:t>
            </a:r>
          </a:p>
          <a:p>
            <a:pPr algn="l">
              <a:lnSpc>
                <a:spcPts val="3262"/>
              </a:lnSpc>
              <a:spcBef>
                <a:spcPct val="0"/>
              </a:spcBef>
            </a:pPr>
            <a:r>
              <a:rPr lang="en-US" sz="23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If primary path fails → Backup activates automatically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972679" y="-2825013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0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0" y="3489579"/>
                </a:lnTo>
                <a:lnTo>
                  <a:pt x="1708088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8352" y="-1632687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858176" y="9070699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1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1" y="4114800"/>
                </a:lnTo>
                <a:lnTo>
                  <a:pt x="53141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185218" y="-20574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1" y="4114800"/>
                </a:lnTo>
                <a:lnTo>
                  <a:pt x="531418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15663" y="3457442"/>
            <a:ext cx="9425380" cy="3950119"/>
          </a:xfrm>
          <a:custGeom>
            <a:avLst/>
            <a:gdLst/>
            <a:ahLst/>
            <a:cxnLst/>
            <a:rect r="r" b="b" t="t" l="l"/>
            <a:pathLst>
              <a:path h="3950119" w="9425380">
                <a:moveTo>
                  <a:pt x="0" y="0"/>
                </a:moveTo>
                <a:lnTo>
                  <a:pt x="9425379" y="0"/>
                </a:lnTo>
                <a:lnTo>
                  <a:pt x="9425379" y="3950118"/>
                </a:lnTo>
                <a:lnTo>
                  <a:pt x="0" y="39501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45100" y="922786"/>
            <a:ext cx="13113076" cy="111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SECURITY MEMBER 2 - NETWORK SECURITY CONFIGURATION (IPV4 USER NETWORK - PINK AREA)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9654" y="1775536"/>
            <a:ext cx="8072302" cy="365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ROUTER2 (R2-Gateway):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Interfaces: Gi0/0, Gi0/1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OSPF routing (Router ID: 2.2.2.2)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DHCP server (Pool: IPv4_Users_Pool)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Passwords: 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Enable-secret: Enable@123 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Console: Console@123 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VTY: Admin@123 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SSH: admin/Admin@123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SSH enabled (version 2, RSA 1024-bit)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Domain: company.com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9654" y="5582532"/>
            <a:ext cx="8072302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SWITCHES (Switch21, Switch22):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Enable-secret: Secure@SW21#2026 / Secure@SW22#2026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Console: Console@SW21 / Console@SW22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VTY: VTY@SW21secure / VTY@SW22secure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Password encryption: Enabled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Trunk ports: Configured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- Access ports: VLAN 10 (IPv4_Users)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654" y="8056029"/>
            <a:ext cx="8072302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ACCESS POINT (AccessPoint-IPv4):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SSID: Company-IPv4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Security: WPA2-PSK 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Passphrase: Company@123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Encryption: AES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66157" y="8056029"/>
            <a:ext cx="2681099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5"/>
              </a:lnSpc>
            </a:pPr>
            <a:r>
              <a:rPr lang="en-US" sz="157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DHCP SERVER: </a:t>
            </a:r>
          </a:p>
          <a:p>
            <a:pPr algn="l">
              <a:lnSpc>
                <a:spcPts val="2205"/>
              </a:lnSpc>
            </a:pPr>
            <a:r>
              <a:rPr lang="en-US" sz="157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Static IP: 202.3.10.5 </a:t>
            </a:r>
          </a:p>
          <a:p>
            <a:pPr algn="l">
              <a:lnSpc>
                <a:spcPts val="2205"/>
              </a:lnSpc>
            </a:pPr>
            <a:r>
              <a:rPr lang="en-US" sz="157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Pool: 202.3.10.10 - 202.3.10.100 </a:t>
            </a:r>
          </a:p>
          <a:p>
            <a:pPr algn="l">
              <a:lnSpc>
                <a:spcPts val="2205"/>
              </a:lnSpc>
            </a:pPr>
            <a:r>
              <a:rPr lang="en-US" sz="157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Gateway: 202.3.10.1 </a:t>
            </a:r>
          </a:p>
          <a:p>
            <a:pPr algn="l">
              <a:lnSpc>
                <a:spcPts val="2205"/>
              </a:lnSpc>
              <a:spcBef>
                <a:spcPct val="0"/>
              </a:spcBef>
            </a:pPr>
            <a:r>
              <a:rPr lang="en-US" b="true" sz="157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DNS: 202.10.12.10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0811" y="-2591096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0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0" y="3489579"/>
                </a:lnTo>
                <a:lnTo>
                  <a:pt x="1708088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8352" y="-1930325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2245553" y="-20574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1" y="4114800"/>
                </a:lnTo>
                <a:lnTo>
                  <a:pt x="531418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61706" y="9435241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1" y="0"/>
                </a:lnTo>
                <a:lnTo>
                  <a:pt x="17080881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268117" y="6102964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7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7" y="0"/>
                </a:lnTo>
                <a:lnTo>
                  <a:pt x="4859647" y="532277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858176" y="82296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1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1" y="4114800"/>
                </a:lnTo>
                <a:lnTo>
                  <a:pt x="53141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96272" y="952500"/>
            <a:ext cx="5798641" cy="68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6"/>
              </a:lnSpc>
              <a:spcBef>
                <a:spcPct val="0"/>
              </a:spcBef>
            </a:pPr>
            <a:r>
              <a:rPr lang="en-US" b="true" sz="405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Network 2 and Testing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5820" y="1773586"/>
            <a:ext cx="7510909" cy="164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true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SITI ZULAIKHA BINTI ABDUL RAZIF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b="true" sz="470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242UC243TL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92979" y="1503998"/>
            <a:ext cx="8922825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b="true" sz="555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IPV6 USER NETWORK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67954" y="2431546"/>
            <a:ext cx="4513540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1"/>
              </a:lnSpc>
              <a:spcBef>
                <a:spcPct val="0"/>
              </a:spcBef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IPv6-only user network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14827" y="2562198"/>
            <a:ext cx="378015" cy="37801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303132" y="3390330"/>
            <a:ext cx="5692259" cy="116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IPv6 subnet:  </a:t>
            </a:r>
          </a:p>
          <a:p>
            <a:pPr algn="l" marL="718947" indent="-359473" lvl="1">
              <a:lnSpc>
                <a:spcPts val="4661"/>
              </a:lnSpc>
              <a:spcBef>
                <a:spcPct val="0"/>
              </a:spcBef>
              <a:buFont typeface="Arial"/>
              <a:buChar char="•"/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2001:db8:0909:2005::/64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14827" y="3587402"/>
            <a:ext cx="378015" cy="37801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303132" y="4825533"/>
            <a:ext cx="5185291" cy="116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Router 3 Gateway:  </a:t>
            </a:r>
          </a:p>
          <a:p>
            <a:pPr algn="l" marL="718947" indent="-359473" lvl="1">
              <a:lnSpc>
                <a:spcPts val="4661"/>
              </a:lnSpc>
              <a:spcBef>
                <a:spcPct val="0"/>
              </a:spcBef>
              <a:buFont typeface="Arial"/>
              <a:buChar char="•"/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2001:db8:0909:2005::1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514827" y="5010033"/>
            <a:ext cx="378015" cy="37801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303132" y="6264951"/>
            <a:ext cx="5889784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  <a:spcBef>
                <a:spcPct val="0"/>
              </a:spcBef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 IPv6 clients: from ::10 to ::14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14827" y="6395602"/>
            <a:ext cx="378015" cy="37801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303132" y="6933923"/>
            <a:ext cx="7510871" cy="175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  <a:spcBef>
                <a:spcPct val="0"/>
              </a:spcBef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Using </a:t>
            </a: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SLAAC </a:t>
            </a:r>
          </a:p>
          <a:p>
            <a:pPr algn="l">
              <a:lnSpc>
                <a:spcPts val="4661"/>
              </a:lnSpc>
              <a:spcBef>
                <a:spcPct val="0"/>
              </a:spcBef>
            </a:pPr>
            <a:r>
              <a:rPr lang="en-US" sz="33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Stateless Address Autoconfiguration</a:t>
            </a:r>
          </a:p>
          <a:p>
            <a:pPr algn="l">
              <a:lnSpc>
                <a:spcPts val="4661"/>
              </a:lnSpc>
              <a:spcBef>
                <a:spcPct val="0"/>
              </a:spcBef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8514827" y="7100996"/>
            <a:ext cx="378015" cy="378015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696860" y="3622900"/>
            <a:ext cx="6798403" cy="4559941"/>
          </a:xfrm>
          <a:custGeom>
            <a:avLst/>
            <a:gdLst/>
            <a:ahLst/>
            <a:cxnLst/>
            <a:rect r="r" b="b" t="t" l="l"/>
            <a:pathLst>
              <a:path h="4559941" w="6798403">
                <a:moveTo>
                  <a:pt x="0" y="0"/>
                </a:moveTo>
                <a:lnTo>
                  <a:pt x="6798402" y="0"/>
                </a:lnTo>
                <a:lnTo>
                  <a:pt x="6798402" y="4559941"/>
                </a:lnTo>
                <a:lnTo>
                  <a:pt x="0" y="45599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06" t="-378" r="-906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7060" y="6065266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8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8" y="0"/>
                </a:lnTo>
                <a:lnTo>
                  <a:pt x="4859648" y="532277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13088" y="9643250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1" y="0"/>
                </a:lnTo>
                <a:lnTo>
                  <a:pt x="17080881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19" r="0" b="-2619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76521" y="8612127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1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1" y="4114800"/>
                </a:lnTo>
                <a:lnTo>
                  <a:pt x="53141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938386" y="-2838256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1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1" y="3489579"/>
                </a:lnTo>
                <a:lnTo>
                  <a:pt x="17080881" y="0"/>
                </a:lnTo>
                <a:close/>
              </a:path>
            </a:pathLst>
          </a:custGeom>
          <a:blipFill>
            <a:blip r:embed="rId4"/>
            <a:stretch>
              <a:fillRect l="0" t="-2619" r="0" b="-26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28352" y="-1327845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3"/>
                </a:lnTo>
                <a:lnTo>
                  <a:pt x="0" y="532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628391" y="-1941153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2" y="4114800"/>
                </a:lnTo>
                <a:lnTo>
                  <a:pt x="53141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011288" y="4961049"/>
            <a:ext cx="2244648" cy="2925489"/>
          </a:xfrm>
          <a:custGeom>
            <a:avLst/>
            <a:gdLst/>
            <a:ahLst/>
            <a:cxnLst/>
            <a:rect r="r" b="b" t="t" l="l"/>
            <a:pathLst>
              <a:path h="2925489" w="2244648">
                <a:moveTo>
                  <a:pt x="0" y="0"/>
                </a:moveTo>
                <a:lnTo>
                  <a:pt x="2244648" y="0"/>
                </a:lnTo>
                <a:lnTo>
                  <a:pt x="2244648" y="2925488"/>
                </a:lnTo>
                <a:lnTo>
                  <a:pt x="0" y="29254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134047">
            <a:off x="-989336" y="1443003"/>
            <a:ext cx="2244648" cy="2925489"/>
          </a:xfrm>
          <a:custGeom>
            <a:avLst/>
            <a:gdLst/>
            <a:ahLst/>
            <a:cxnLst/>
            <a:rect r="r" b="b" t="t" l="l"/>
            <a:pathLst>
              <a:path h="2925489" w="2244648">
                <a:moveTo>
                  <a:pt x="0" y="0"/>
                </a:moveTo>
                <a:lnTo>
                  <a:pt x="2244648" y="0"/>
                </a:lnTo>
                <a:lnTo>
                  <a:pt x="2244648" y="2925489"/>
                </a:lnTo>
                <a:lnTo>
                  <a:pt x="0" y="29254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63741" y="770206"/>
            <a:ext cx="7588077" cy="6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7"/>
              </a:lnSpc>
            </a:pPr>
            <a:r>
              <a:rPr lang="en-US" b="true" sz="3869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ROUTER3 INTERFACE CONFIGURATION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2124" y="1898702"/>
            <a:ext cx="6332387" cy="2919185"/>
          </a:xfrm>
          <a:custGeom>
            <a:avLst/>
            <a:gdLst/>
            <a:ahLst/>
            <a:cxnLst/>
            <a:rect r="r" b="b" t="t" l="l"/>
            <a:pathLst>
              <a:path h="2919185" w="6332387">
                <a:moveTo>
                  <a:pt x="0" y="0"/>
                </a:moveTo>
                <a:lnTo>
                  <a:pt x="6332387" y="0"/>
                </a:lnTo>
                <a:lnTo>
                  <a:pt x="6332387" y="2919185"/>
                </a:lnTo>
                <a:lnTo>
                  <a:pt x="0" y="29191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494" t="-277359" r="-289111" b="-10413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400227" y="2157589"/>
            <a:ext cx="7810182" cy="198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146" indent="-246573" lvl="1">
              <a:lnSpc>
                <a:spcPts val="3197"/>
              </a:lnSpc>
              <a:buFont typeface="Arial"/>
              <a:buChar char="•"/>
            </a:pPr>
            <a:r>
              <a:rPr lang="en-US" sz="22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Gi0/0 – IPv6 Gateway 2001:db8:0909:2005::1/64</a:t>
            </a:r>
          </a:p>
          <a:p>
            <a:pPr algn="l">
              <a:lnSpc>
                <a:spcPts val="3197"/>
              </a:lnSpc>
            </a:pPr>
          </a:p>
          <a:p>
            <a:pPr algn="l" marL="493146" indent="-246573" lvl="1">
              <a:lnSpc>
                <a:spcPts val="3197"/>
              </a:lnSpc>
              <a:buFont typeface="Arial"/>
              <a:buChar char="•"/>
            </a:pPr>
            <a:r>
              <a:rPr lang="en-US" sz="22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Gi0/1 – Core (Dual-Stack) IPv6 &amp; IPv4</a:t>
            </a:r>
          </a:p>
          <a:p>
            <a:pPr algn="l">
              <a:lnSpc>
                <a:spcPts val="3197"/>
              </a:lnSpc>
            </a:pPr>
          </a:p>
          <a:p>
            <a:pPr algn="l" marL="493146" indent="-246573" lvl="1">
              <a:lnSpc>
                <a:spcPts val="3197"/>
              </a:lnSpc>
              <a:buFont typeface="Arial"/>
              <a:buChar char="•"/>
            </a:pPr>
            <a:r>
              <a:rPr lang="en-US" sz="22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Gi0/2 – Link to Router2 IPv6 Link-Local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54649" y="6896490"/>
            <a:ext cx="10090532" cy="1919588"/>
          </a:xfrm>
          <a:custGeom>
            <a:avLst/>
            <a:gdLst/>
            <a:ahLst/>
            <a:cxnLst/>
            <a:rect r="r" b="b" t="t" l="l"/>
            <a:pathLst>
              <a:path h="1919588" w="10090532">
                <a:moveTo>
                  <a:pt x="0" y="0"/>
                </a:moveTo>
                <a:lnTo>
                  <a:pt x="10090531" y="0"/>
                </a:lnTo>
                <a:lnTo>
                  <a:pt x="10090531" y="1919588"/>
                </a:lnTo>
                <a:lnTo>
                  <a:pt x="0" y="1919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940" t="-594960" r="-170372" b="-11318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24034" y="5664588"/>
            <a:ext cx="4874367" cy="727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3"/>
              </a:lnSpc>
            </a:pPr>
            <a:r>
              <a:rPr lang="en-US" b="true" sz="4174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OSPFV3 &amp; ROUTING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53529" y="6560281"/>
            <a:ext cx="5294429" cy="205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7"/>
              </a:lnSpc>
            </a:pPr>
            <a:r>
              <a:rPr lang="en-US" sz="29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OSPFv3 enabled</a:t>
            </a:r>
          </a:p>
          <a:p>
            <a:pPr algn="l">
              <a:lnSpc>
                <a:spcPts val="4107"/>
              </a:lnSpc>
            </a:pPr>
            <a:r>
              <a:rPr lang="en-US" sz="29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Router ID: 3.3.3.3</a:t>
            </a:r>
          </a:p>
          <a:p>
            <a:pPr algn="l">
              <a:lnSpc>
                <a:spcPts val="4107"/>
              </a:lnSpc>
            </a:pPr>
            <a:r>
              <a:rPr lang="en-US" sz="29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Neighbors: R1 &amp; R2</a:t>
            </a:r>
          </a:p>
          <a:p>
            <a:pPr algn="l">
              <a:lnSpc>
                <a:spcPts val="4107"/>
              </a:lnSpc>
            </a:pPr>
            <a:r>
              <a:rPr lang="en-US" sz="29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Static route as backup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7060" y="6065266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8" y="5322773"/>
                </a:moveTo>
                <a:lnTo>
                  <a:pt x="0" y="5322773"/>
                </a:lnTo>
                <a:lnTo>
                  <a:pt x="0" y="0"/>
                </a:lnTo>
                <a:lnTo>
                  <a:pt x="4859648" y="0"/>
                </a:lnTo>
                <a:lnTo>
                  <a:pt x="4859648" y="532277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13088" y="9643250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1" y="0"/>
                </a:lnTo>
                <a:lnTo>
                  <a:pt x="17080881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19" r="0" b="-2619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76521" y="8612127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1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1" y="4114800"/>
                </a:lnTo>
                <a:lnTo>
                  <a:pt x="53141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938386" y="-2838256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1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1" y="3489579"/>
                </a:lnTo>
                <a:lnTo>
                  <a:pt x="17080881" y="0"/>
                </a:lnTo>
                <a:close/>
              </a:path>
            </a:pathLst>
          </a:custGeom>
          <a:blipFill>
            <a:blip r:embed="rId4"/>
            <a:stretch>
              <a:fillRect l="0" t="-2619" r="0" b="-26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28352" y="-1327845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3"/>
                </a:lnTo>
                <a:lnTo>
                  <a:pt x="0" y="532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628391" y="-1941153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2" y="4114800"/>
                </a:lnTo>
                <a:lnTo>
                  <a:pt x="53141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011288" y="4961049"/>
            <a:ext cx="2244648" cy="2925489"/>
          </a:xfrm>
          <a:custGeom>
            <a:avLst/>
            <a:gdLst/>
            <a:ahLst/>
            <a:cxnLst/>
            <a:rect r="r" b="b" t="t" l="l"/>
            <a:pathLst>
              <a:path h="2925489" w="2244648">
                <a:moveTo>
                  <a:pt x="0" y="0"/>
                </a:moveTo>
                <a:lnTo>
                  <a:pt x="2244648" y="0"/>
                </a:lnTo>
                <a:lnTo>
                  <a:pt x="2244648" y="2925488"/>
                </a:lnTo>
                <a:lnTo>
                  <a:pt x="0" y="29254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134047">
            <a:off x="-989336" y="1443003"/>
            <a:ext cx="2244648" cy="2925489"/>
          </a:xfrm>
          <a:custGeom>
            <a:avLst/>
            <a:gdLst/>
            <a:ahLst/>
            <a:cxnLst/>
            <a:rect r="r" b="b" t="t" l="l"/>
            <a:pathLst>
              <a:path h="2925489" w="2244648">
                <a:moveTo>
                  <a:pt x="0" y="0"/>
                </a:moveTo>
                <a:lnTo>
                  <a:pt x="2244648" y="0"/>
                </a:lnTo>
                <a:lnTo>
                  <a:pt x="2244648" y="2925489"/>
                </a:lnTo>
                <a:lnTo>
                  <a:pt x="0" y="29254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3032" y="1339307"/>
            <a:ext cx="5528215" cy="2177135"/>
          </a:xfrm>
          <a:custGeom>
            <a:avLst/>
            <a:gdLst/>
            <a:ahLst/>
            <a:cxnLst/>
            <a:rect r="r" b="b" t="t" l="l"/>
            <a:pathLst>
              <a:path h="2177135" w="5528215">
                <a:moveTo>
                  <a:pt x="0" y="0"/>
                </a:moveTo>
                <a:lnTo>
                  <a:pt x="5528215" y="0"/>
                </a:lnTo>
                <a:lnTo>
                  <a:pt x="5528215" y="2177135"/>
                </a:lnTo>
                <a:lnTo>
                  <a:pt x="0" y="21771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3144" t="-88112" r="-85634" b="-12437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95614" y="494252"/>
            <a:ext cx="6209546" cy="807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3"/>
              </a:lnSpc>
            </a:pPr>
            <a:r>
              <a:rPr lang="en-US" sz="4566" b="true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SWITCH TOPOLOGY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0387" y="1486865"/>
            <a:ext cx="4334262" cy="202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1"/>
              </a:lnSpc>
            </a:pPr>
            <a:r>
              <a:rPr lang="en-US" sz="29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Switch31 and Switch32</a:t>
            </a:r>
          </a:p>
          <a:p>
            <a:pPr algn="l">
              <a:lnSpc>
                <a:spcPts val="4081"/>
              </a:lnSpc>
            </a:pPr>
            <a:r>
              <a:rPr lang="en-US" sz="29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Inter-switch link: Fa0/24</a:t>
            </a:r>
          </a:p>
          <a:p>
            <a:pPr algn="l">
              <a:lnSpc>
                <a:spcPts val="4081"/>
              </a:lnSpc>
            </a:pPr>
            <a:r>
              <a:rPr lang="en-US" sz="29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High availability design</a:t>
            </a:r>
          </a:p>
          <a:p>
            <a:pPr algn="l">
              <a:lnSpc>
                <a:spcPts val="408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682588" y="2963040"/>
            <a:ext cx="10883584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b="true" sz="555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DHCPV6 &amp; CONNECTIVITY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13032" y="4541009"/>
            <a:ext cx="4489250" cy="3018593"/>
          </a:xfrm>
          <a:custGeom>
            <a:avLst/>
            <a:gdLst/>
            <a:ahLst/>
            <a:cxnLst/>
            <a:rect r="r" b="b" t="t" l="l"/>
            <a:pathLst>
              <a:path h="3018593" w="4489250">
                <a:moveTo>
                  <a:pt x="0" y="0"/>
                </a:moveTo>
                <a:lnTo>
                  <a:pt x="4489251" y="0"/>
                </a:lnTo>
                <a:lnTo>
                  <a:pt x="4489251" y="3018593"/>
                </a:lnTo>
                <a:lnTo>
                  <a:pt x="0" y="3018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289" t="-163756" r="-263112" b="-4526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-1986504" y="3659317"/>
            <a:ext cx="9378203" cy="56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3145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PC31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131313" y="4570930"/>
            <a:ext cx="4520771" cy="2988672"/>
          </a:xfrm>
          <a:custGeom>
            <a:avLst/>
            <a:gdLst/>
            <a:ahLst/>
            <a:cxnLst/>
            <a:rect r="r" b="b" t="t" l="l"/>
            <a:pathLst>
              <a:path h="2988672" w="4520771">
                <a:moveTo>
                  <a:pt x="0" y="0"/>
                </a:moveTo>
                <a:lnTo>
                  <a:pt x="4520771" y="0"/>
                </a:lnTo>
                <a:lnTo>
                  <a:pt x="4520771" y="2988672"/>
                </a:lnTo>
                <a:lnTo>
                  <a:pt x="0" y="29886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567" t="-48586" r="-289838" b="-188697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06436" y="3787968"/>
            <a:ext cx="9639066" cy="57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b="true" sz="3232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PC32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193988" y="4481063"/>
            <a:ext cx="7422556" cy="2869545"/>
          </a:xfrm>
          <a:custGeom>
            <a:avLst/>
            <a:gdLst/>
            <a:ahLst/>
            <a:cxnLst/>
            <a:rect r="r" b="b" t="t" l="l"/>
            <a:pathLst>
              <a:path h="2869545" w="7422556">
                <a:moveTo>
                  <a:pt x="0" y="0"/>
                </a:moveTo>
                <a:lnTo>
                  <a:pt x="7422556" y="0"/>
                </a:lnTo>
                <a:lnTo>
                  <a:pt x="7422556" y="2869545"/>
                </a:lnTo>
                <a:lnTo>
                  <a:pt x="0" y="28695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908" t="-64991" r="-262750" b="-369951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372352" y="3732127"/>
            <a:ext cx="10883584" cy="650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0"/>
              </a:lnSpc>
            </a:pPr>
            <a:r>
              <a:rPr lang="en-US" b="true" sz="365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DHCPV6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73240" y="7540796"/>
            <a:ext cx="6141520" cy="206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3"/>
              </a:lnSpc>
            </a:pPr>
            <a:r>
              <a:rPr lang="en-US" sz="39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DHCPv6 auto-addressing</a:t>
            </a:r>
          </a:p>
          <a:p>
            <a:pPr algn="l">
              <a:lnSpc>
                <a:spcPts val="5533"/>
              </a:lnSpc>
            </a:pPr>
            <a:r>
              <a:rPr lang="en-US" sz="39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PC31 &amp; PC32 configured</a:t>
            </a:r>
          </a:p>
          <a:p>
            <a:pPr algn="l">
              <a:lnSpc>
                <a:spcPts val="5533"/>
              </a:lnSpc>
            </a:pPr>
            <a:r>
              <a:rPr lang="en-US" sz="39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IPv6 tests successful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416315" y="-2848229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1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1" y="3489579"/>
                </a:lnTo>
                <a:lnTo>
                  <a:pt x="17080881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8352" y="-1632687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8439" y="9625756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1" y="0"/>
                </a:lnTo>
                <a:lnTo>
                  <a:pt x="17080881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226127" y="6596913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8" y="5322774"/>
                </a:moveTo>
                <a:lnTo>
                  <a:pt x="0" y="5322774"/>
                </a:lnTo>
                <a:lnTo>
                  <a:pt x="0" y="0"/>
                </a:lnTo>
                <a:lnTo>
                  <a:pt x="4859648" y="0"/>
                </a:lnTo>
                <a:lnTo>
                  <a:pt x="4859648" y="53227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602209" y="82296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2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2" y="4114800"/>
                </a:lnTo>
                <a:lnTo>
                  <a:pt x="531418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416315" y="-2356635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2" y="4114800"/>
                </a:lnTo>
                <a:lnTo>
                  <a:pt x="53141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2994" y="1350061"/>
            <a:ext cx="6641055" cy="2707903"/>
          </a:xfrm>
          <a:custGeom>
            <a:avLst/>
            <a:gdLst/>
            <a:ahLst/>
            <a:cxnLst/>
            <a:rect r="r" b="b" t="t" l="l"/>
            <a:pathLst>
              <a:path h="2707903" w="6641055">
                <a:moveTo>
                  <a:pt x="0" y="0"/>
                </a:moveTo>
                <a:lnTo>
                  <a:pt x="6641054" y="0"/>
                </a:lnTo>
                <a:lnTo>
                  <a:pt x="6641054" y="2707902"/>
                </a:lnTo>
                <a:lnTo>
                  <a:pt x="0" y="27079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605" t="-351619" r="-286558" b="-8799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92169" y="555625"/>
            <a:ext cx="5951831" cy="56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7"/>
              </a:lnSpc>
            </a:pPr>
            <a:r>
              <a:rPr lang="en-US" b="true" sz="3147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ROUTER3 SECURITY ENHANCEMENTS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50751" y="1384731"/>
            <a:ext cx="6150694" cy="234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6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Router3 Security:</a:t>
            </a:r>
          </a:p>
          <a:p>
            <a:pPr algn="l">
              <a:lnSpc>
                <a:spcPts val="3713"/>
              </a:lnSpc>
            </a:pPr>
            <a:r>
              <a:rPr lang="en-US" sz="26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Enable-secret: class123</a:t>
            </a:r>
          </a:p>
          <a:p>
            <a:pPr algn="l">
              <a:lnSpc>
                <a:spcPts val="3713"/>
              </a:lnSpc>
            </a:pPr>
            <a:r>
              <a:rPr lang="en-US" sz="26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r>
              <a:rPr lang="en-US" sz="26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Console password: cisco123</a:t>
            </a:r>
          </a:p>
          <a:p>
            <a:pPr algn="l">
              <a:lnSpc>
                <a:spcPts val="3713"/>
              </a:lnSpc>
            </a:pPr>
            <a:r>
              <a:rPr lang="en-US" sz="26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SSH user: admin / admin123</a:t>
            </a:r>
          </a:p>
          <a:p>
            <a:pPr algn="l">
              <a:lnSpc>
                <a:spcPts val="3713"/>
              </a:lnSpc>
              <a:spcBef>
                <a:spcPct val="0"/>
              </a:spcBef>
            </a:pPr>
            <a:r>
              <a:rPr lang="en-US" sz="26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IPv6 Access Control Lists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2169" y="4213962"/>
            <a:ext cx="5706867" cy="58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8"/>
              </a:lnSpc>
            </a:pPr>
            <a:r>
              <a:rPr lang="en-US" b="true" sz="3334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SWITCH31 &amp; SWITCH32 SECURITY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48706" y="5143500"/>
            <a:ext cx="6205343" cy="3545910"/>
          </a:xfrm>
          <a:custGeom>
            <a:avLst/>
            <a:gdLst/>
            <a:ahLst/>
            <a:cxnLst/>
            <a:rect r="r" b="b" t="t" l="l"/>
            <a:pathLst>
              <a:path h="3545910" w="6205343">
                <a:moveTo>
                  <a:pt x="0" y="0"/>
                </a:moveTo>
                <a:lnTo>
                  <a:pt x="6205342" y="0"/>
                </a:lnTo>
                <a:lnTo>
                  <a:pt x="6205342" y="3545910"/>
                </a:lnTo>
                <a:lnTo>
                  <a:pt x="0" y="35459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791" t="-219333" r="-280244" b="-5968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755128" y="5524834"/>
            <a:ext cx="6103048" cy="278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Switch31 &amp; Switch32 Security:</a:t>
            </a:r>
          </a:p>
          <a:p>
            <a:pPr algn="l">
              <a:lnSpc>
                <a:spcPts val="3684"/>
              </a:lnSpc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Enable-secret: class123</a:t>
            </a:r>
          </a:p>
          <a:p>
            <a:pPr algn="l">
              <a:lnSpc>
                <a:spcPts val="3684"/>
              </a:lnSpc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Console password: cisco123</a:t>
            </a:r>
          </a:p>
          <a:p>
            <a:pPr algn="l">
              <a:lnSpc>
                <a:spcPts val="3684"/>
              </a:lnSpc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SSH user: admin / admin123</a:t>
            </a:r>
          </a:p>
          <a:p>
            <a:pPr algn="l">
              <a:lnSpc>
                <a:spcPts val="3684"/>
              </a:lnSpc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Telnet disabled</a:t>
            </a:r>
          </a:p>
          <a:p>
            <a:pPr algn="l">
              <a:lnSpc>
                <a:spcPts val="368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416315" y="-2848229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1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1" y="3489579"/>
                </a:lnTo>
                <a:lnTo>
                  <a:pt x="17080881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8352" y="-1632687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8439" y="9625756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1" y="0"/>
                </a:lnTo>
                <a:lnTo>
                  <a:pt x="17080881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226127" y="6596913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8" y="5322774"/>
                </a:moveTo>
                <a:lnTo>
                  <a:pt x="0" y="5322774"/>
                </a:lnTo>
                <a:lnTo>
                  <a:pt x="0" y="0"/>
                </a:lnTo>
                <a:lnTo>
                  <a:pt x="4859648" y="0"/>
                </a:lnTo>
                <a:lnTo>
                  <a:pt x="4859648" y="53227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602209" y="82296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2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2" y="4114800"/>
                </a:lnTo>
                <a:lnTo>
                  <a:pt x="531418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811296" y="2389861"/>
            <a:ext cx="378015" cy="37801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11296" y="4542257"/>
            <a:ext cx="378015" cy="37801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11296" y="6007808"/>
            <a:ext cx="378015" cy="37801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8439" y="5548068"/>
            <a:ext cx="378015" cy="436705"/>
            <a:chOff x="0" y="0"/>
            <a:chExt cx="812800" cy="9389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938993"/>
            </a:xfrm>
            <a:custGeom>
              <a:avLst/>
              <a:gdLst/>
              <a:ahLst/>
              <a:cxnLst/>
              <a:rect r="r" b="b" t="t" l="l"/>
              <a:pathLst>
                <a:path h="938993" w="812800">
                  <a:moveTo>
                    <a:pt x="406400" y="0"/>
                  </a:moveTo>
                  <a:cubicBezTo>
                    <a:pt x="181951" y="0"/>
                    <a:pt x="0" y="210201"/>
                    <a:pt x="0" y="469497"/>
                  </a:cubicBezTo>
                  <a:cubicBezTo>
                    <a:pt x="0" y="728792"/>
                    <a:pt x="181951" y="938993"/>
                    <a:pt x="406400" y="938993"/>
                  </a:cubicBezTo>
                  <a:cubicBezTo>
                    <a:pt x="630849" y="938993"/>
                    <a:pt x="812800" y="728792"/>
                    <a:pt x="812800" y="469497"/>
                  </a:cubicBezTo>
                  <a:cubicBezTo>
                    <a:pt x="812800" y="2102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9931"/>
              <a:ext cx="660400" cy="801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97484" y="2271190"/>
            <a:ext cx="6510628" cy="2763854"/>
          </a:xfrm>
          <a:custGeom>
            <a:avLst/>
            <a:gdLst/>
            <a:ahLst/>
            <a:cxnLst/>
            <a:rect r="r" b="b" t="t" l="l"/>
            <a:pathLst>
              <a:path h="2763854" w="6510628">
                <a:moveTo>
                  <a:pt x="0" y="0"/>
                </a:moveTo>
                <a:lnTo>
                  <a:pt x="6510628" y="0"/>
                </a:lnTo>
                <a:lnTo>
                  <a:pt x="6510628" y="2763854"/>
                </a:lnTo>
                <a:lnTo>
                  <a:pt x="0" y="27638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23889" y="6785289"/>
            <a:ext cx="6928977" cy="890703"/>
          </a:xfrm>
          <a:custGeom>
            <a:avLst/>
            <a:gdLst/>
            <a:ahLst/>
            <a:cxnLst/>
            <a:rect r="r" b="b" t="t" l="l"/>
            <a:pathLst>
              <a:path h="890703" w="6928977">
                <a:moveTo>
                  <a:pt x="0" y="0"/>
                </a:moveTo>
                <a:lnTo>
                  <a:pt x="6928977" y="0"/>
                </a:lnTo>
                <a:lnTo>
                  <a:pt x="6928977" y="890704"/>
                </a:lnTo>
                <a:lnTo>
                  <a:pt x="0" y="8907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88310" y="7952218"/>
            <a:ext cx="7000136" cy="655336"/>
          </a:xfrm>
          <a:custGeom>
            <a:avLst/>
            <a:gdLst/>
            <a:ahLst/>
            <a:cxnLst/>
            <a:rect r="r" b="b" t="t" l="l"/>
            <a:pathLst>
              <a:path h="655336" w="7000136">
                <a:moveTo>
                  <a:pt x="0" y="0"/>
                </a:moveTo>
                <a:lnTo>
                  <a:pt x="7000136" y="0"/>
                </a:lnTo>
                <a:lnTo>
                  <a:pt x="7000136" y="655335"/>
                </a:lnTo>
                <a:lnTo>
                  <a:pt x="0" y="6553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344" t="0" r="-3344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562974" y="7724242"/>
            <a:ext cx="7101592" cy="805199"/>
          </a:xfrm>
          <a:custGeom>
            <a:avLst/>
            <a:gdLst/>
            <a:ahLst/>
            <a:cxnLst/>
            <a:rect r="r" b="b" t="t" l="l"/>
            <a:pathLst>
              <a:path h="805199" w="7101592">
                <a:moveTo>
                  <a:pt x="0" y="0"/>
                </a:moveTo>
                <a:lnTo>
                  <a:pt x="7101592" y="0"/>
                </a:lnTo>
                <a:lnTo>
                  <a:pt x="7101592" y="805199"/>
                </a:lnTo>
                <a:lnTo>
                  <a:pt x="0" y="8051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721030" y="827576"/>
            <a:ext cx="6036214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b="true" sz="555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WIRELESS NETWORK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21030" y="2268735"/>
            <a:ext cx="7264718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 Individual AP with individual wifi passcode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Marketing: Marketing@123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Engineering: Engineering@123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Guest: Guest@123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8589361" y="4485107"/>
            <a:ext cx="7903607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Radius system that using WPA-PSK passcode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with AAA system (need to login before connect)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21030" y="5976087"/>
            <a:ext cx="4447342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SSH for Router4: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Username: admin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Password: Enable@123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47292" y="5490918"/>
            <a:ext cx="471392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DHCP for wireless network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Address pool: </a:t>
            </a:r>
            <a:r>
              <a:rPr lang="en-US" sz="2799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202.02.06.0/24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6058" y="40435"/>
            <a:ext cx="7222054" cy="195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9"/>
              </a:lnSpc>
            </a:pPr>
            <a:r>
              <a:rPr lang="en-US" sz="5550" b="true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Member 4:</a:t>
            </a:r>
          </a:p>
          <a:p>
            <a:pPr algn="l">
              <a:lnSpc>
                <a:spcPts val="7769"/>
              </a:lnSpc>
              <a:spcBef>
                <a:spcPct val="0"/>
              </a:spcBef>
            </a:pPr>
            <a:r>
              <a:rPr lang="en-US" b="true" sz="555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Moo Yu Jie 1191100199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416315" y="-2848229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17080881" y="0"/>
                </a:moveTo>
                <a:lnTo>
                  <a:pt x="0" y="0"/>
                </a:lnTo>
                <a:lnTo>
                  <a:pt x="0" y="3489579"/>
                </a:lnTo>
                <a:lnTo>
                  <a:pt x="17080881" y="3489579"/>
                </a:lnTo>
                <a:lnTo>
                  <a:pt x="17080881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8352" y="-1632687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0" y="0"/>
                </a:moveTo>
                <a:lnTo>
                  <a:pt x="4859648" y="0"/>
                </a:lnTo>
                <a:lnTo>
                  <a:pt x="4859648" y="5322774"/>
                </a:lnTo>
                <a:lnTo>
                  <a:pt x="0" y="532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8439" y="9625756"/>
            <a:ext cx="17080880" cy="3489579"/>
          </a:xfrm>
          <a:custGeom>
            <a:avLst/>
            <a:gdLst/>
            <a:ahLst/>
            <a:cxnLst/>
            <a:rect r="r" b="b" t="t" l="l"/>
            <a:pathLst>
              <a:path h="3489579" w="17080880">
                <a:moveTo>
                  <a:pt x="0" y="0"/>
                </a:moveTo>
                <a:lnTo>
                  <a:pt x="17080881" y="0"/>
                </a:lnTo>
                <a:lnTo>
                  <a:pt x="17080881" y="3489579"/>
                </a:lnTo>
                <a:lnTo>
                  <a:pt x="0" y="348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9" r="0" b="-2619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226127" y="6596913"/>
            <a:ext cx="4859648" cy="5322773"/>
          </a:xfrm>
          <a:custGeom>
            <a:avLst/>
            <a:gdLst/>
            <a:ahLst/>
            <a:cxnLst/>
            <a:rect r="r" b="b" t="t" l="l"/>
            <a:pathLst>
              <a:path h="5322773" w="4859648">
                <a:moveTo>
                  <a:pt x="4859648" y="5322774"/>
                </a:moveTo>
                <a:lnTo>
                  <a:pt x="0" y="5322774"/>
                </a:lnTo>
                <a:lnTo>
                  <a:pt x="0" y="0"/>
                </a:lnTo>
                <a:lnTo>
                  <a:pt x="4859648" y="0"/>
                </a:lnTo>
                <a:lnTo>
                  <a:pt x="4859648" y="53227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602209" y="8229600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5314182" y="0"/>
                </a:moveTo>
                <a:lnTo>
                  <a:pt x="0" y="0"/>
                </a:lnTo>
                <a:lnTo>
                  <a:pt x="0" y="4114800"/>
                </a:lnTo>
                <a:lnTo>
                  <a:pt x="5314182" y="4114800"/>
                </a:lnTo>
                <a:lnTo>
                  <a:pt x="531418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416315" y="-2356635"/>
            <a:ext cx="5314181" cy="4114800"/>
          </a:xfrm>
          <a:custGeom>
            <a:avLst/>
            <a:gdLst/>
            <a:ahLst/>
            <a:cxnLst/>
            <a:rect r="r" b="b" t="t" l="l"/>
            <a:pathLst>
              <a:path h="4114800" w="5314181">
                <a:moveTo>
                  <a:pt x="0" y="4114800"/>
                </a:moveTo>
                <a:lnTo>
                  <a:pt x="5314182" y="4114800"/>
                </a:lnTo>
                <a:lnTo>
                  <a:pt x="53141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811296" y="2389861"/>
            <a:ext cx="378015" cy="37801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11296" y="4542257"/>
            <a:ext cx="378015" cy="3780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54992" y="3501079"/>
            <a:ext cx="378015" cy="37801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11107" y="775185"/>
            <a:ext cx="7878204" cy="4627659"/>
          </a:xfrm>
          <a:custGeom>
            <a:avLst/>
            <a:gdLst/>
            <a:ahLst/>
            <a:cxnLst/>
            <a:rect r="r" b="b" t="t" l="l"/>
            <a:pathLst>
              <a:path h="4627659" w="7878204">
                <a:moveTo>
                  <a:pt x="0" y="0"/>
                </a:moveTo>
                <a:lnTo>
                  <a:pt x="7878204" y="0"/>
                </a:lnTo>
                <a:lnTo>
                  <a:pt x="7878204" y="4627659"/>
                </a:lnTo>
                <a:lnTo>
                  <a:pt x="0" y="46276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2042" b="-18569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954992" y="2200853"/>
            <a:ext cx="378015" cy="37801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359945" y="5402844"/>
            <a:ext cx="8908953" cy="2422610"/>
          </a:xfrm>
          <a:custGeom>
            <a:avLst/>
            <a:gdLst/>
            <a:ahLst/>
            <a:cxnLst/>
            <a:rect r="r" b="b" t="t" l="l"/>
            <a:pathLst>
              <a:path h="2422610" w="8908953">
                <a:moveTo>
                  <a:pt x="0" y="0"/>
                </a:moveTo>
                <a:lnTo>
                  <a:pt x="8908953" y="0"/>
                </a:lnTo>
                <a:lnTo>
                  <a:pt x="8908953" y="2422610"/>
                </a:lnTo>
                <a:lnTo>
                  <a:pt x="0" y="24226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28700" y="5824567"/>
            <a:ext cx="6279706" cy="4001773"/>
          </a:xfrm>
          <a:custGeom>
            <a:avLst/>
            <a:gdLst/>
            <a:ahLst/>
            <a:cxnLst/>
            <a:rect r="r" b="b" t="t" l="l"/>
            <a:pathLst>
              <a:path h="4001773" w="6279706">
                <a:moveTo>
                  <a:pt x="0" y="0"/>
                </a:moveTo>
                <a:lnTo>
                  <a:pt x="6279706" y="0"/>
                </a:lnTo>
                <a:lnTo>
                  <a:pt x="6279706" y="4001773"/>
                </a:lnTo>
                <a:lnTo>
                  <a:pt x="0" y="40017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786033" y="641835"/>
            <a:ext cx="6036214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b="true" sz="5550">
                <a:solidFill>
                  <a:srgbClr val="FFFFFF"/>
                </a:solidFill>
                <a:latin typeface="Ahkio Bold"/>
                <a:ea typeface="Ahkio Bold"/>
                <a:cs typeface="Ahkio Bold"/>
                <a:sym typeface="Ahkio Bold"/>
              </a:rPr>
              <a:t>WIRELESS NETWORK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67635" y="1977240"/>
            <a:ext cx="5307646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All the laptop are able to ping the server (202.2.6.1)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30431" y="3420847"/>
            <a:ext cx="636798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Configuration: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ping the other laptop or the server 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DAG_gqFC4kg</dc:identifier>
  <dcterms:modified xsi:type="dcterms:W3CDTF">2011-08-01T06:04:30Z</dcterms:modified>
  <cp:revision>1</cp:revision>
  <dc:title>CSN6224_Group11_TC1L_THE 202 Network</dc:title>
</cp:coreProperties>
</file>